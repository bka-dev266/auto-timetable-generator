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59" r:id="rId4"/>
    <p:sldId id="269" r:id="rId5"/>
    <p:sldId id="260" r:id="rId6"/>
    <p:sldId id="261" r:id="rId7"/>
    <p:sldId id="262" r:id="rId8"/>
    <p:sldId id="270"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8EB126-1D4A-46A6-976B-086A378AB728}">
          <p14:sldIdLst>
            <p14:sldId id="256"/>
            <p14:sldId id="257"/>
            <p14:sldId id="259"/>
            <p14:sldId id="269"/>
            <p14:sldId id="260"/>
            <p14:sldId id="261"/>
            <p14:sldId id="262"/>
            <p14:sldId id="270"/>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F91971-FA34-4581-A9C2-1F3E8BC70236}" type="datetimeFigureOut">
              <a:rPr lang="en-US" smtClean="0"/>
              <a:t>6/1/2021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9E8BC8-8320-491C-A811-9E94B9F3B5A0}" type="slidenum">
              <a:rPr lang="en-US" smtClean="0"/>
              <a:t>‹#›</a:t>
            </a:fld>
            <a:endParaRPr lang="en-US"/>
          </a:p>
        </p:txBody>
      </p:sp>
    </p:spTree>
    <p:extLst>
      <p:ext uri="{BB962C8B-B14F-4D97-AF65-F5344CB8AC3E}">
        <p14:creationId xmlns:p14="http://schemas.microsoft.com/office/powerpoint/2010/main" val="35692087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20B5AE-D8E8-4EA9-B484-14631DC23F83}" type="datetimeFigureOut">
              <a:rPr lang="en-US" smtClean="0"/>
              <a:t>6/1/2021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328931-A9BB-42DD-B186-9975132A33D0}" type="slidenum">
              <a:rPr lang="en-US" smtClean="0"/>
              <a:t>‹#›</a:t>
            </a:fld>
            <a:endParaRPr lang="en-US"/>
          </a:p>
        </p:txBody>
      </p:sp>
    </p:spTree>
    <p:extLst>
      <p:ext uri="{BB962C8B-B14F-4D97-AF65-F5344CB8AC3E}">
        <p14:creationId xmlns:p14="http://schemas.microsoft.com/office/powerpoint/2010/main" val="38252988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328931-A9BB-42DD-B186-9975132A33D0}" type="slidenum">
              <a:rPr lang="en-US" smtClean="0"/>
              <a:t>4</a:t>
            </a:fld>
            <a:endParaRPr lang="en-US"/>
          </a:p>
        </p:txBody>
      </p:sp>
    </p:spTree>
    <p:extLst>
      <p:ext uri="{BB962C8B-B14F-4D97-AF65-F5344CB8AC3E}">
        <p14:creationId xmlns:p14="http://schemas.microsoft.com/office/powerpoint/2010/main" val="438758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328931-A9BB-42DD-B186-9975132A33D0}" type="slidenum">
              <a:rPr lang="en-US" smtClean="0"/>
              <a:t>7</a:t>
            </a:fld>
            <a:endParaRPr lang="en-US"/>
          </a:p>
        </p:txBody>
      </p:sp>
    </p:spTree>
    <p:extLst>
      <p:ext uri="{BB962C8B-B14F-4D97-AF65-F5344CB8AC3E}">
        <p14:creationId xmlns:p14="http://schemas.microsoft.com/office/powerpoint/2010/main" val="1528347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13B37CD-CD84-4CE4-9142-6D9F9FE3F638}" type="datetimeFigureOut">
              <a:rPr lang="en-US" smtClean="0"/>
              <a:t>6/1/2021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4288314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3B37CD-CD84-4CE4-9142-6D9F9FE3F638}" type="datetimeFigureOut">
              <a:rPr lang="en-US" smtClean="0"/>
              <a:t>6/1/2021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2315368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13B37CD-CD84-4CE4-9142-6D9F9FE3F638}" type="datetimeFigureOut">
              <a:rPr lang="en-US" smtClean="0"/>
              <a:t>6/1/2021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3646754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3B37CD-CD84-4CE4-9142-6D9F9FE3F638}" type="datetimeFigureOut">
              <a:rPr lang="en-US" smtClean="0"/>
              <a:t>6/1/2021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2499619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13B37CD-CD84-4CE4-9142-6D9F9FE3F638}" type="datetimeFigureOut">
              <a:rPr lang="en-US" smtClean="0"/>
              <a:t>6/1/2021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2311440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3B37CD-CD84-4CE4-9142-6D9F9FE3F638}" type="datetimeFigureOut">
              <a:rPr lang="en-US" smtClean="0"/>
              <a:t>6/1/2021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3190194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3B37CD-CD84-4CE4-9142-6D9F9FE3F638}" type="datetimeFigureOut">
              <a:rPr lang="en-US" smtClean="0"/>
              <a:t>6/1/2021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3987902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13B37CD-CD84-4CE4-9142-6D9F9FE3F638}" type="datetimeFigureOut">
              <a:rPr lang="en-US" smtClean="0"/>
              <a:t>6/1/2021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49867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13B37CD-CD84-4CE4-9142-6D9F9FE3F638}" type="datetimeFigureOut">
              <a:rPr lang="en-US" smtClean="0"/>
              <a:t>6/1/2021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1784042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3B37CD-CD84-4CE4-9142-6D9F9FE3F638}" type="datetimeFigureOut">
              <a:rPr lang="en-US" smtClean="0"/>
              <a:t>6/1/2021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2540046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3B37CD-CD84-4CE4-9142-6D9F9FE3F638}" type="datetimeFigureOut">
              <a:rPr lang="en-US" smtClean="0"/>
              <a:t>6/1/2021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0407CA-D769-4E50-800E-BE8D95BA7E9F}" type="slidenum">
              <a:rPr lang="en-US" smtClean="0"/>
              <a:t>‹#›</a:t>
            </a:fld>
            <a:endParaRPr lang="en-US"/>
          </a:p>
        </p:txBody>
      </p:sp>
    </p:spTree>
    <p:extLst>
      <p:ext uri="{BB962C8B-B14F-4D97-AF65-F5344CB8AC3E}">
        <p14:creationId xmlns:p14="http://schemas.microsoft.com/office/powerpoint/2010/main" val="2524289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3B37CD-CD84-4CE4-9142-6D9F9FE3F638}" type="datetimeFigureOut">
              <a:rPr lang="en-US" smtClean="0"/>
              <a:t>6/1/2021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0407CA-D769-4E50-800E-BE8D95BA7E9F}" type="slidenum">
              <a:rPr lang="en-US" smtClean="0"/>
              <a:t>‹#›</a:t>
            </a:fld>
            <a:endParaRPr lang="en-US"/>
          </a:p>
        </p:txBody>
      </p:sp>
    </p:spTree>
    <p:extLst>
      <p:ext uri="{BB962C8B-B14F-4D97-AF65-F5344CB8AC3E}">
        <p14:creationId xmlns:p14="http://schemas.microsoft.com/office/powerpoint/2010/main" val="3587812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0477" y="1912726"/>
            <a:ext cx="11389658" cy="1240609"/>
          </a:xfrm>
        </p:spPr>
        <p:txBody>
          <a:bodyPr>
            <a:normAutofit/>
          </a:bodyPr>
          <a:lstStyle/>
          <a:p>
            <a:r>
              <a:rPr lang="en-US" sz="4400" b="1" dirty="0">
                <a:latin typeface="Times New Roman" panose="02020603050405020304" pitchFamily="18" charset="0"/>
                <a:cs typeface="Times New Roman" panose="02020603050405020304" pitchFamily="18" charset="0"/>
              </a:rPr>
              <a:t>Automatic Schedule Generator</a:t>
            </a:r>
          </a:p>
        </p:txBody>
      </p:sp>
      <p:sp>
        <p:nvSpPr>
          <p:cNvPr id="3" name="Subtitle 2"/>
          <p:cNvSpPr>
            <a:spLocks noGrp="1"/>
          </p:cNvSpPr>
          <p:nvPr>
            <p:ph type="subTitle" idx="1"/>
          </p:nvPr>
        </p:nvSpPr>
        <p:spPr>
          <a:xfrm>
            <a:off x="1524000" y="3867459"/>
            <a:ext cx="9144000" cy="1351429"/>
          </a:xfrm>
        </p:spPr>
        <p:txBody>
          <a:bodyPr/>
          <a:lstStyle/>
          <a:p>
            <a:r>
              <a:rPr lang="en-US" dirty="0">
                <a:latin typeface="Times New Roman" panose="02020603050405020304" pitchFamily="18" charset="0"/>
                <a:cs typeface="Times New Roman" panose="02020603050405020304" pitchFamily="18" charset="0"/>
              </a:rPr>
              <a:t>Presenters: </a:t>
            </a:r>
            <a:r>
              <a:rPr lang="en-US" dirty="0" err="1">
                <a:latin typeface="Times New Roman" panose="02020603050405020304" pitchFamily="18" charset="0"/>
                <a:cs typeface="Times New Roman" panose="02020603050405020304" pitchFamily="18" charset="0"/>
              </a:rPr>
              <a:t>Peshawa</a:t>
            </a:r>
            <a:r>
              <a:rPr lang="en-US" dirty="0">
                <a:latin typeface="Times New Roman" panose="02020603050405020304" pitchFamily="18" charset="0"/>
                <a:cs typeface="Times New Roman" panose="02020603050405020304" pitchFamily="18" charset="0"/>
              </a:rPr>
              <a:t> Muhammed &amp; </a:t>
            </a:r>
            <a:r>
              <a:rPr lang="en-US" dirty="0" err="1">
                <a:latin typeface="Times New Roman" panose="02020603050405020304" pitchFamily="18" charset="0"/>
                <a:cs typeface="Times New Roman" panose="02020603050405020304" pitchFamily="18" charset="0"/>
              </a:rPr>
              <a:t>Hiran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Fahmy</a:t>
            </a:r>
            <a:endParaRPr lang="en-US"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Supervised by:  Khalid H. Ahmed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55942" y="167926"/>
            <a:ext cx="1393359" cy="1335849"/>
          </a:xfrm>
          <a:prstGeom prst="rect">
            <a:avLst/>
          </a:prstGeom>
          <a:noFill/>
          <a:ln w="9525">
            <a:noFill/>
            <a:miter lim="800000"/>
            <a:headEnd/>
            <a:tailEnd/>
          </a:ln>
        </p:spPr>
      </p:pic>
      <p:sp>
        <p:nvSpPr>
          <p:cNvPr id="21" name="Subtitle 2"/>
          <p:cNvSpPr txBox="1">
            <a:spLocks/>
          </p:cNvSpPr>
          <p:nvPr/>
        </p:nvSpPr>
        <p:spPr>
          <a:xfrm>
            <a:off x="255495" y="250561"/>
            <a:ext cx="5452782"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err="1">
                <a:latin typeface="Times New Roman" panose="02020603050405020304" pitchFamily="18" charset="0"/>
                <a:cs typeface="Times New Roman" panose="02020603050405020304" pitchFamily="18" charset="0"/>
              </a:rPr>
              <a:t>Sulaimani</a:t>
            </a:r>
            <a:r>
              <a:rPr lang="en-US" sz="2000" dirty="0">
                <a:latin typeface="Times New Roman" panose="02020603050405020304" pitchFamily="18" charset="0"/>
                <a:cs typeface="Times New Roman" panose="02020603050405020304" pitchFamily="18" charset="0"/>
              </a:rPr>
              <a:t> Polytechnic University</a:t>
            </a:r>
          </a:p>
          <a:p>
            <a:pPr algn="l"/>
            <a:r>
              <a:rPr lang="en-US" sz="2000" dirty="0">
                <a:latin typeface="Times New Roman" panose="02020603050405020304" pitchFamily="18" charset="0"/>
                <a:cs typeface="Times New Roman" panose="02020603050405020304" pitchFamily="18" charset="0"/>
              </a:rPr>
              <a:t>Technical College of Informatics</a:t>
            </a:r>
          </a:p>
          <a:p>
            <a:pPr algn="l"/>
            <a:r>
              <a:rPr lang="en-US" sz="2000" dirty="0">
                <a:latin typeface="Times New Roman" panose="02020603050405020304" pitchFamily="18" charset="0"/>
                <a:cs typeface="Times New Roman" panose="02020603050405020304" pitchFamily="18" charset="0"/>
              </a:rPr>
              <a:t>Department of Information Technology</a:t>
            </a:r>
          </a:p>
          <a:p>
            <a:endParaRPr lang="en-US" dirty="0">
              <a:latin typeface="Times New Roman" panose="02020603050405020304" pitchFamily="18" charset="0"/>
              <a:cs typeface="Times New Roman" panose="02020603050405020304" pitchFamily="18" charset="0"/>
            </a:endParaRP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dirty="0" err="1">
                <a:latin typeface="Times New Roman" panose="02020603050405020304" pitchFamily="18" charset="0"/>
                <a:cs typeface="Times New Roman" panose="02020603050405020304" pitchFamily="18" charset="0"/>
              </a:rPr>
              <a:t>SPU|Technical</a:t>
            </a:r>
            <a:r>
              <a:rPr lang="en-GB" sz="2000" dirty="0">
                <a:latin typeface="Times New Roman" panose="02020603050405020304" pitchFamily="18" charset="0"/>
                <a:cs typeface="Times New Roman" panose="02020603050405020304" pitchFamily="18" charset="0"/>
              </a:rPr>
              <a:t> College of Informatics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982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22194" y="1421949"/>
            <a:ext cx="11055724" cy="4290874"/>
          </a:xfrm>
        </p:spPr>
        <p:txBody>
          <a:bodyPr>
            <a:normAutofit/>
          </a:bodyPr>
          <a:lstStyle/>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Introduction</a:t>
            </a:r>
          </a:p>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Why Timetable Generator?</a:t>
            </a:r>
          </a:p>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Tools and Techniques</a:t>
            </a:r>
            <a:endParaRPr lang="en-US"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Architecture Design</a:t>
            </a:r>
          </a:p>
          <a:p>
            <a:pPr marL="342900" indent="-3429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Conclusion</a:t>
            </a:r>
          </a:p>
          <a:p>
            <a:pPr marL="342900" indent="-342900" algn="l">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21" name="Subtitle 2"/>
          <p:cNvSpPr txBox="1">
            <a:spLocks/>
          </p:cNvSpPr>
          <p:nvPr/>
        </p:nvSpPr>
        <p:spPr>
          <a:xfrm>
            <a:off x="242047" y="237239"/>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C00000"/>
                </a:solidFill>
                <a:latin typeface="Times New Roman" panose="02020603050405020304" pitchFamily="18" charset="0"/>
                <a:cs typeface="Times New Roman" panose="02020603050405020304" pitchFamily="18" charset="0"/>
              </a:rPr>
              <a:t>Overview</a:t>
            </a:r>
          </a:p>
          <a:p>
            <a:endParaRPr lang="en-US" dirty="0">
              <a:latin typeface="Times New Roman" panose="02020603050405020304" pitchFamily="18" charset="0"/>
              <a:cs typeface="Times New Roman" panose="02020603050405020304" pitchFamily="18" charset="0"/>
            </a:endParaRP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latin typeface="Times New Roman" panose="02020603050405020304" pitchFamily="18" charset="0"/>
                <a:cs typeface="Times New Roman" panose="02020603050405020304" pitchFamily="18" charset="0"/>
              </a:rPr>
              <a:t>SPU|Technical</a:t>
            </a:r>
            <a:r>
              <a:rPr lang="en-GB" sz="2000" dirty="0">
                <a:latin typeface="Times New Roman" panose="02020603050405020304" pitchFamily="18" charset="0"/>
                <a:cs typeface="Times New Roman" panose="02020603050405020304" pitchFamily="18" charset="0"/>
              </a:rPr>
              <a:t> College of Informatics</a:t>
            </a: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Rectangle 10"/>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TextBox 6"/>
          <p:cNvSpPr txBox="1"/>
          <p:nvPr/>
        </p:nvSpPr>
        <p:spPr>
          <a:xfrm>
            <a:off x="11506677" y="6451460"/>
            <a:ext cx="430305" cy="369332"/>
          </a:xfrm>
          <a:prstGeom prst="rect">
            <a:avLst/>
          </a:prstGeom>
          <a:noFill/>
        </p:spPr>
        <p:txBody>
          <a:bodyPr wrap="square" rtlCol="0">
            <a:spAutoFit/>
          </a:bodyPr>
          <a:lstStyle/>
          <a:p>
            <a:pPr algn="ctr"/>
            <a:r>
              <a:rPr lang="en-GB"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8603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22194" y="1421949"/>
            <a:ext cx="11055724" cy="4785588"/>
          </a:xfrm>
        </p:spPr>
        <p:txBody>
          <a:bodyPr/>
          <a:lstStyle/>
          <a:p>
            <a:pPr marL="342900" indent="-342900" algn="l">
              <a:buFont typeface="Arial" panose="020B0604020202020204" pitchFamily="34" charset="0"/>
              <a:buChar char="•"/>
            </a:pPr>
            <a:r>
              <a:rPr lang="en-US" dirty="0"/>
              <a:t>Timetable creation is a very arduous and time consuming task. To create timetable it takes lots of patience and man hours.</a:t>
            </a:r>
            <a:endParaRPr lang="en-US"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dirty="0"/>
              <a:t>We have tried to reduce these difficulties of generating timetable by Genetics Algorithm, By using this algorithm we are able to reduce the time require to generate time table and generate a timetable which is more accurate, precise and free of human errors.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21" name="Subtitle 2"/>
          <p:cNvSpPr txBox="1">
            <a:spLocks/>
          </p:cNvSpPr>
          <p:nvPr/>
        </p:nvSpPr>
        <p:spPr>
          <a:xfrm>
            <a:off x="242047" y="241918"/>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C00000"/>
                </a:solidFill>
                <a:latin typeface="Times New Roman" panose="02020603050405020304" pitchFamily="18" charset="0"/>
                <a:cs typeface="Times New Roman" panose="02020603050405020304" pitchFamily="18" charset="0"/>
              </a:rPr>
              <a:t>Introduction</a:t>
            </a: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latin typeface="Times New Roman" panose="02020603050405020304" pitchFamily="18" charset="0"/>
                <a:cs typeface="Times New Roman" panose="02020603050405020304" pitchFamily="18" charset="0"/>
              </a:rPr>
              <a:t>SPU|Technical</a:t>
            </a:r>
            <a:r>
              <a:rPr lang="en-GB" sz="2000" dirty="0">
                <a:latin typeface="Times New Roman" panose="02020603050405020304" pitchFamily="18" charset="0"/>
                <a:cs typeface="Times New Roman" panose="02020603050405020304" pitchFamily="18" charset="0"/>
              </a:rPr>
              <a:t> College of Informatics</a:t>
            </a: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Rectangle 10"/>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TextBox 6"/>
          <p:cNvSpPr txBox="1"/>
          <p:nvPr/>
        </p:nvSpPr>
        <p:spPr>
          <a:xfrm>
            <a:off x="11450171" y="6451460"/>
            <a:ext cx="430305" cy="369332"/>
          </a:xfrm>
          <a:prstGeom prst="rect">
            <a:avLst/>
          </a:prstGeom>
          <a:noFill/>
        </p:spPr>
        <p:txBody>
          <a:bodyPr wrap="square" rtlCol="0">
            <a:spAutoFit/>
          </a:bodyPr>
          <a:lstStyle/>
          <a:p>
            <a:pPr algn="ctr"/>
            <a:r>
              <a:rPr lang="en-GB" dirty="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926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C:\Users\Karzan\AppData\Local\Microsoft\Windows\INetCache\Content.Word\This_is_a_logo_for_sulaimani_polytechnic_university.jpg">
            <a:extLst>
              <a:ext uri="{FF2B5EF4-FFF2-40B4-BE49-F238E27FC236}">
                <a16:creationId xmlns:a16="http://schemas.microsoft.com/office/drawing/2014/main" id="{34B621EC-3B01-4350-95FF-9DEC2752210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15" name="Subtitle 2">
            <a:extLst>
              <a:ext uri="{FF2B5EF4-FFF2-40B4-BE49-F238E27FC236}">
                <a16:creationId xmlns:a16="http://schemas.microsoft.com/office/drawing/2014/main" id="{57BC711E-F915-4078-B7C5-05301C4EB64B}"/>
              </a:ext>
            </a:extLst>
          </p:cNvPr>
          <p:cNvSpPr txBox="1">
            <a:spLocks/>
          </p:cNvSpPr>
          <p:nvPr/>
        </p:nvSpPr>
        <p:spPr>
          <a:xfrm>
            <a:off x="242047" y="226461"/>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8" name="Subtitle 2">
            <a:extLst>
              <a:ext uri="{FF2B5EF4-FFF2-40B4-BE49-F238E27FC236}">
                <a16:creationId xmlns:a16="http://schemas.microsoft.com/office/drawing/2014/main" id="{1DF22CF4-4570-432D-B82B-4D57E282E8ED}"/>
              </a:ext>
            </a:extLst>
          </p:cNvPr>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t>SPU|Technical</a:t>
            </a:r>
            <a:r>
              <a:rPr lang="en-GB" sz="2000" dirty="0"/>
              <a:t> College of Informatics</a:t>
            </a:r>
            <a:endParaRPr lang="en-US" sz="2000" dirty="0"/>
          </a:p>
        </p:txBody>
      </p:sp>
      <p:sp>
        <p:nvSpPr>
          <p:cNvPr id="20" name="Rectangle 19">
            <a:extLst>
              <a:ext uri="{FF2B5EF4-FFF2-40B4-BE49-F238E27FC236}">
                <a16:creationId xmlns:a16="http://schemas.microsoft.com/office/drawing/2014/main" id="{B9E5F8A5-3696-4BB0-B422-2015C1FBF7AE}"/>
              </a:ext>
            </a:extLst>
          </p:cNvPr>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328DDC6-7E77-4CF9-81B4-79B7AD8ED187}"/>
              </a:ext>
            </a:extLst>
          </p:cNvPr>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D44214D-371A-4901-83D2-EB24C0B6CE96}"/>
              </a:ext>
            </a:extLst>
          </p:cNvPr>
          <p:cNvSpPr txBox="1"/>
          <p:nvPr/>
        </p:nvSpPr>
        <p:spPr>
          <a:xfrm>
            <a:off x="11450171" y="6451460"/>
            <a:ext cx="430305" cy="369332"/>
          </a:xfrm>
          <a:prstGeom prst="rect">
            <a:avLst/>
          </a:prstGeom>
          <a:noFill/>
        </p:spPr>
        <p:txBody>
          <a:bodyPr wrap="square" rtlCol="0">
            <a:spAutoFit/>
          </a:bodyPr>
          <a:lstStyle/>
          <a:p>
            <a:pPr algn="ctr"/>
            <a:r>
              <a:rPr lang="en-GB" dirty="0"/>
              <a:t>4</a:t>
            </a:r>
            <a:endParaRPr lang="en-US" dirty="0"/>
          </a:p>
        </p:txBody>
      </p:sp>
      <p:sp>
        <p:nvSpPr>
          <p:cNvPr id="26" name="TextBox 25">
            <a:extLst>
              <a:ext uri="{FF2B5EF4-FFF2-40B4-BE49-F238E27FC236}">
                <a16:creationId xmlns:a16="http://schemas.microsoft.com/office/drawing/2014/main" id="{012E8B1A-D0E8-4B68-A85B-0EC252E079A9}"/>
              </a:ext>
            </a:extLst>
          </p:cNvPr>
          <p:cNvSpPr txBox="1"/>
          <p:nvPr/>
        </p:nvSpPr>
        <p:spPr>
          <a:xfrm>
            <a:off x="242047" y="187085"/>
            <a:ext cx="10370830" cy="584775"/>
          </a:xfrm>
          <a:prstGeom prst="rect">
            <a:avLst/>
          </a:prstGeom>
          <a:noFill/>
        </p:spPr>
        <p:txBody>
          <a:bodyPr wrap="square">
            <a:spAutoFit/>
          </a:bodyPr>
          <a:lstStyle/>
          <a:p>
            <a:r>
              <a:rPr lang="en-US" sz="3200" dirty="0">
                <a:solidFill>
                  <a:srgbClr val="C00000"/>
                </a:solidFill>
                <a:latin typeface="Times New Roman" panose="02020603050405020304" pitchFamily="18" charset="0"/>
                <a:cs typeface="Times New Roman" panose="02020603050405020304" pitchFamily="18" charset="0"/>
              </a:rPr>
              <a:t>Why Timetable Generator?</a:t>
            </a:r>
          </a:p>
        </p:txBody>
      </p:sp>
      <p:sp>
        <p:nvSpPr>
          <p:cNvPr id="19" name="Subtitle 2">
            <a:extLst>
              <a:ext uri="{FF2B5EF4-FFF2-40B4-BE49-F238E27FC236}">
                <a16:creationId xmlns:a16="http://schemas.microsoft.com/office/drawing/2014/main" id="{7FFA7665-5F72-4BFE-AB3C-CC9852A06CEC}"/>
              </a:ext>
            </a:extLst>
          </p:cNvPr>
          <p:cNvSpPr>
            <a:spLocks noGrp="1"/>
          </p:cNvSpPr>
          <p:nvPr>
            <p:ph type="subTitle" idx="1"/>
          </p:nvPr>
        </p:nvSpPr>
        <p:spPr>
          <a:xfrm>
            <a:off x="487025" y="1968653"/>
            <a:ext cx="10811091" cy="2508213"/>
          </a:xfrm>
        </p:spPr>
        <p:txBody>
          <a:bodyPr/>
          <a:lstStyle/>
          <a:p>
            <a:pPr algn="l"/>
            <a:r>
              <a:rPr lang="en-US" dirty="0"/>
              <a:t>Generally, the hand operated system of time table preparation in colleges is very monotonous and time consuming which results in either the same teachers ending up with more than one class at a time or a number of classes conflicting at the same classroom.</a:t>
            </a: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3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22194" y="1421949"/>
            <a:ext cx="11055724" cy="4785588"/>
          </a:xfrm>
        </p:spPr>
        <p:txBody>
          <a:bodyPr/>
          <a:lstStyle/>
          <a:p>
            <a:pPr marL="342900" indent="-342900" algn="just">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Microsoft Visual Studio for creating windows form application</a:t>
            </a:r>
          </a:p>
          <a:p>
            <a:pPr marL="342900" indent="-342900" algn="just">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 for coding</a:t>
            </a:r>
          </a:p>
          <a:p>
            <a:pPr marL="342900" indent="-342900" algn="just">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SQL Server for Database Management System</a:t>
            </a:r>
          </a:p>
          <a:p>
            <a:pPr marL="342900" indent="-342900" algn="just">
              <a:lnSpc>
                <a:spcPct val="100000"/>
              </a:lnSpc>
              <a:buFont typeface="Arial" panose="020B0604020202020204" pitchFamily="34" charset="0"/>
              <a:buChar char="•"/>
            </a:pPr>
            <a:r>
              <a:rPr lang="en-US" dirty="0"/>
              <a:t>Genetics Algorithm for generating timetable</a:t>
            </a:r>
            <a:endParaRPr lang="en-US" dirty="0">
              <a:latin typeface="Times New Roman" panose="02020603050405020304" pitchFamily="18" charset="0"/>
              <a:cs typeface="Times New Roman" panose="02020603050405020304" pitchFamily="18" charset="0"/>
            </a:endParaRPr>
          </a:p>
        </p:txBody>
      </p:sp>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21" name="Subtitle 2"/>
          <p:cNvSpPr txBox="1">
            <a:spLocks/>
          </p:cNvSpPr>
          <p:nvPr/>
        </p:nvSpPr>
        <p:spPr>
          <a:xfrm>
            <a:off x="242047" y="241918"/>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C00000"/>
                </a:solidFill>
                <a:latin typeface="Times New Roman" panose="02020603050405020304" pitchFamily="18" charset="0"/>
                <a:cs typeface="Times New Roman" panose="02020603050405020304" pitchFamily="18" charset="0"/>
              </a:rPr>
              <a:t>Tools and Techniques</a:t>
            </a:r>
          </a:p>
          <a:p>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t>SPU|Technical</a:t>
            </a:r>
            <a:r>
              <a:rPr lang="en-GB" sz="2000" dirty="0"/>
              <a:t> College of Informatics</a:t>
            </a:r>
            <a:endParaRPr lang="en-US" sz="2000" dirty="0"/>
          </a:p>
        </p:txBody>
      </p:sp>
      <p:sp>
        <p:nvSpPr>
          <p:cNvPr id="6" name="Rectangle 5"/>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1450171" y="6451460"/>
            <a:ext cx="430305" cy="369332"/>
          </a:xfrm>
          <a:prstGeom prst="rect">
            <a:avLst/>
          </a:prstGeom>
          <a:noFill/>
        </p:spPr>
        <p:txBody>
          <a:bodyPr wrap="square" rtlCol="0">
            <a:spAutoFit/>
          </a:bodyPr>
          <a:lstStyle/>
          <a:p>
            <a:pPr algn="ctr"/>
            <a:r>
              <a:rPr lang="en-GB" dirty="0"/>
              <a:t>5</a:t>
            </a:r>
            <a:endParaRPr lang="en-US" dirty="0"/>
          </a:p>
        </p:txBody>
      </p:sp>
    </p:spTree>
    <p:extLst>
      <p:ext uri="{BB962C8B-B14F-4D97-AF65-F5344CB8AC3E}">
        <p14:creationId xmlns:p14="http://schemas.microsoft.com/office/powerpoint/2010/main" val="478851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21" name="Subtitle 2"/>
          <p:cNvSpPr txBox="1">
            <a:spLocks/>
          </p:cNvSpPr>
          <p:nvPr/>
        </p:nvSpPr>
        <p:spPr>
          <a:xfrm>
            <a:off x="242047" y="215431"/>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C00000"/>
                </a:solidFill>
                <a:latin typeface="Times New Roman" panose="02020603050405020304" pitchFamily="18" charset="0"/>
                <a:cs typeface="Times New Roman" panose="02020603050405020304" pitchFamily="18" charset="0"/>
              </a:rPr>
              <a:t>Architecture Design | Activity Diagram</a:t>
            </a:r>
          </a:p>
          <a:p>
            <a:pPr algn="l"/>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latin typeface="Times New Roman" panose="02020603050405020304" pitchFamily="18" charset="0"/>
                <a:cs typeface="Times New Roman" panose="02020603050405020304" pitchFamily="18" charset="0"/>
              </a:rPr>
              <a:t>SPU|Technical</a:t>
            </a:r>
            <a:r>
              <a:rPr lang="en-GB" sz="2000" dirty="0">
                <a:latin typeface="Times New Roman" panose="02020603050405020304" pitchFamily="18" charset="0"/>
                <a:cs typeface="Times New Roman" panose="02020603050405020304" pitchFamily="18" charset="0"/>
              </a:rPr>
              <a:t> College of Informatics</a:t>
            </a: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Rectangle 10"/>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TextBox 6"/>
          <p:cNvSpPr txBox="1"/>
          <p:nvPr/>
        </p:nvSpPr>
        <p:spPr>
          <a:xfrm>
            <a:off x="11450171" y="6451460"/>
            <a:ext cx="430305" cy="369332"/>
          </a:xfrm>
          <a:prstGeom prst="rect">
            <a:avLst/>
          </a:prstGeom>
          <a:noFill/>
        </p:spPr>
        <p:txBody>
          <a:bodyPr wrap="square" rtlCol="0">
            <a:spAutoFit/>
          </a:bodyPr>
          <a:lstStyle/>
          <a:p>
            <a:pPr algn="ctr"/>
            <a:r>
              <a:rPr lang="en-GB" dirty="0">
                <a:latin typeface="Times New Roman" panose="02020603050405020304" pitchFamily="18" charset="0"/>
                <a:cs typeface="Times New Roman" panose="02020603050405020304" pitchFamily="18" charset="0"/>
              </a:rPr>
              <a:t>6</a:t>
            </a:r>
            <a:endParaRPr lang="en-US"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7162" y="1020975"/>
            <a:ext cx="4972123" cy="5249603"/>
          </a:xfrm>
          <a:prstGeom prst="rect">
            <a:avLst/>
          </a:prstGeom>
        </p:spPr>
      </p:pic>
    </p:spTree>
    <p:extLst>
      <p:ext uri="{BB962C8B-B14F-4D97-AF65-F5344CB8AC3E}">
        <p14:creationId xmlns:p14="http://schemas.microsoft.com/office/powerpoint/2010/main" val="2178199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21" name="Subtitle 2"/>
          <p:cNvSpPr txBox="1">
            <a:spLocks/>
          </p:cNvSpPr>
          <p:nvPr/>
        </p:nvSpPr>
        <p:spPr>
          <a:xfrm>
            <a:off x="242047" y="226461"/>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latin typeface="Times New Roman" panose="02020603050405020304" pitchFamily="18" charset="0"/>
                <a:cs typeface="Times New Roman" panose="02020603050405020304" pitchFamily="18" charset="0"/>
              </a:rPr>
              <a:t>SPU|Technical</a:t>
            </a:r>
            <a:r>
              <a:rPr lang="en-GB" sz="2000" dirty="0">
                <a:latin typeface="Times New Roman" panose="02020603050405020304" pitchFamily="18" charset="0"/>
                <a:cs typeface="Times New Roman" panose="02020603050405020304" pitchFamily="18" charset="0"/>
              </a:rPr>
              <a:t> College of Informatics</a:t>
            </a: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Rectangle 10"/>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TextBox 6"/>
          <p:cNvSpPr txBox="1"/>
          <p:nvPr/>
        </p:nvSpPr>
        <p:spPr>
          <a:xfrm>
            <a:off x="11450171" y="6451460"/>
            <a:ext cx="430305" cy="369332"/>
          </a:xfrm>
          <a:prstGeom prst="rect">
            <a:avLst/>
          </a:prstGeom>
          <a:noFill/>
        </p:spPr>
        <p:txBody>
          <a:bodyPr wrap="square" rtlCol="0">
            <a:spAutoFit/>
          </a:bodyPr>
          <a:lstStyle/>
          <a:p>
            <a:pPr algn="ctr"/>
            <a:r>
              <a:rPr lang="en-GB" dirty="0">
                <a:latin typeface="Times New Roman" panose="02020603050405020304" pitchFamily="18" charset="0"/>
                <a:cs typeface="Times New Roman" panose="02020603050405020304" pitchFamily="18" charset="0"/>
              </a:rPr>
              <a:t>7</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DE5E07A-6183-4560-AA51-9343314E8399}"/>
              </a:ext>
            </a:extLst>
          </p:cNvPr>
          <p:cNvSpPr txBox="1"/>
          <p:nvPr/>
        </p:nvSpPr>
        <p:spPr>
          <a:xfrm>
            <a:off x="242047" y="187085"/>
            <a:ext cx="9549700" cy="1077218"/>
          </a:xfrm>
          <a:prstGeom prst="rect">
            <a:avLst/>
          </a:prstGeom>
          <a:noFill/>
        </p:spPr>
        <p:txBody>
          <a:bodyPr wrap="square">
            <a:spAutoFit/>
          </a:bodyPr>
          <a:lstStyle/>
          <a:p>
            <a:r>
              <a:rPr lang="en-US" sz="3200" dirty="0">
                <a:solidFill>
                  <a:srgbClr val="C00000"/>
                </a:solidFill>
                <a:latin typeface="Times New Roman" panose="02020603050405020304" pitchFamily="18" charset="0"/>
                <a:cs typeface="Times New Roman" panose="02020603050405020304" pitchFamily="18" charset="0"/>
              </a:rPr>
              <a:t>Architecture Design | ER-Diagram</a:t>
            </a:r>
          </a:p>
          <a:p>
            <a:endParaRPr lang="en-US" sz="3200" dirty="0">
              <a:solidFill>
                <a:srgbClr val="C00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5322" y="1034781"/>
            <a:ext cx="7183315" cy="5320246"/>
          </a:xfrm>
          <a:prstGeom prst="rect">
            <a:avLst/>
          </a:prstGeom>
        </p:spPr>
      </p:pic>
    </p:spTree>
    <p:extLst>
      <p:ext uri="{BB962C8B-B14F-4D97-AF65-F5344CB8AC3E}">
        <p14:creationId xmlns:p14="http://schemas.microsoft.com/office/powerpoint/2010/main" val="3801817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22194" y="1421949"/>
            <a:ext cx="11055724" cy="4785588"/>
          </a:xfrm>
        </p:spPr>
        <p:txBody>
          <a:bodyPr/>
          <a:lstStyle/>
          <a:p>
            <a:pPr algn="just">
              <a:lnSpc>
                <a:spcPct val="100000"/>
              </a:lnSpc>
            </a:pPr>
            <a:r>
              <a:rPr lang="en-US" dirty="0"/>
              <a:t>Creating such timetables manually is a complex and time consuming process. By automating this process with computer assisted timetable generators can save a lot of precious time of administrators who are involved in creating and managing course timetables. Since every college has its own timetabling problem, the commercially available software packages may not suit the needs of every college. Hence we have developed a practical approach for building lecture course timetabling systems, which can be customized to fit most college's timetabling problem.</a:t>
            </a:r>
            <a:endParaRPr lang="en-US" dirty="0">
              <a:latin typeface="Times New Roman" panose="02020603050405020304" pitchFamily="18" charset="0"/>
              <a:cs typeface="Times New Roman" panose="02020603050405020304" pitchFamily="18" charset="0"/>
            </a:endParaRPr>
          </a:p>
        </p:txBody>
      </p:sp>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40888" y="94976"/>
            <a:ext cx="862201" cy="821329"/>
          </a:xfrm>
          <a:prstGeom prst="rect">
            <a:avLst/>
          </a:prstGeom>
          <a:noFill/>
          <a:ln w="9525">
            <a:noFill/>
            <a:miter lim="800000"/>
            <a:headEnd/>
            <a:tailEnd/>
          </a:ln>
        </p:spPr>
      </p:pic>
      <p:sp>
        <p:nvSpPr>
          <p:cNvPr id="21" name="Subtitle 2"/>
          <p:cNvSpPr txBox="1">
            <a:spLocks/>
          </p:cNvSpPr>
          <p:nvPr/>
        </p:nvSpPr>
        <p:spPr>
          <a:xfrm>
            <a:off x="242047" y="241918"/>
            <a:ext cx="10603005" cy="5368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solidFill>
                  <a:srgbClr val="C00000"/>
                </a:solidFill>
                <a:latin typeface="Times New Roman" panose="02020603050405020304" pitchFamily="18" charset="0"/>
                <a:cs typeface="Times New Roman" panose="02020603050405020304" pitchFamily="18" charset="0"/>
              </a:rPr>
              <a:t>Conclusion</a:t>
            </a:r>
          </a:p>
          <a:p>
            <a:pPr algn="l"/>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err="1"/>
              <a:t>SPU|Technical</a:t>
            </a:r>
            <a:r>
              <a:rPr lang="en-GB" sz="2000" dirty="0"/>
              <a:t> College of Informatics</a:t>
            </a:r>
            <a:endParaRPr lang="en-US" sz="2000" dirty="0"/>
          </a:p>
        </p:txBody>
      </p:sp>
      <p:sp>
        <p:nvSpPr>
          <p:cNvPr id="6" name="Rectangle 5"/>
          <p:cNvSpPr/>
          <p:nvPr/>
        </p:nvSpPr>
        <p:spPr>
          <a:xfrm>
            <a:off x="0" y="0"/>
            <a:ext cx="242047" cy="961467"/>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954435" y="6424564"/>
            <a:ext cx="237564" cy="43343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1450171" y="6451460"/>
            <a:ext cx="430305" cy="369332"/>
          </a:xfrm>
          <a:prstGeom prst="rect">
            <a:avLst/>
          </a:prstGeom>
          <a:noFill/>
        </p:spPr>
        <p:txBody>
          <a:bodyPr wrap="square" rtlCol="0">
            <a:spAutoFit/>
          </a:bodyPr>
          <a:lstStyle/>
          <a:p>
            <a:pPr algn="ctr"/>
            <a:r>
              <a:rPr lang="en-GB" dirty="0"/>
              <a:t>8</a:t>
            </a:r>
            <a:endParaRPr lang="en-US" dirty="0"/>
          </a:p>
        </p:txBody>
      </p:sp>
    </p:spTree>
    <p:extLst>
      <p:ext uri="{BB962C8B-B14F-4D97-AF65-F5344CB8AC3E}">
        <p14:creationId xmlns:p14="http://schemas.microsoft.com/office/powerpoint/2010/main" val="419324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68137" y="2329626"/>
            <a:ext cx="11055724" cy="2141522"/>
          </a:xfrm>
        </p:spPr>
        <p:txBody>
          <a:bodyPr/>
          <a:lstStyle/>
          <a:p>
            <a:r>
              <a:rPr lang="en-GB" dirty="0"/>
              <a:t>Thanks for your attention</a:t>
            </a:r>
          </a:p>
          <a:p>
            <a:endParaRPr lang="en-GB" dirty="0"/>
          </a:p>
          <a:p>
            <a:r>
              <a:rPr lang="en-GB" dirty="0"/>
              <a:t>Q and A?</a:t>
            </a:r>
            <a:endParaRPr lang="en-US" dirty="0"/>
          </a:p>
          <a:p>
            <a:endParaRPr lang="en-US" dirty="0"/>
          </a:p>
          <a:p>
            <a:endParaRPr lang="en-US" dirty="0"/>
          </a:p>
        </p:txBody>
      </p:sp>
      <p:pic>
        <p:nvPicPr>
          <p:cNvPr id="4" name="Picture 3" descr="C:\Users\Karzan\AppData\Local\Microsoft\Windows\INetCache\Content.Word\This_is_a_logo_for_sulaimani_polytechnic_university.jpg">
            <a:extLst>
              <a:ext uri="{FF2B5EF4-FFF2-40B4-BE49-F238E27FC236}">
                <a16:creationId xmlns:a16="http://schemas.microsoft.com/office/drawing/2014/main" id="{5975B422-E721-4701-A809-3BBB6691556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64898" y="113242"/>
            <a:ext cx="862201" cy="821329"/>
          </a:xfrm>
          <a:prstGeom prst="rect">
            <a:avLst/>
          </a:prstGeom>
          <a:noFill/>
          <a:ln w="9525">
            <a:noFill/>
            <a:miter lim="800000"/>
            <a:headEnd/>
            <a:tailEnd/>
          </a:ln>
        </p:spPr>
      </p:pic>
      <p:sp>
        <p:nvSpPr>
          <p:cNvPr id="24" name="Subtitle 2"/>
          <p:cNvSpPr txBox="1">
            <a:spLocks/>
          </p:cNvSpPr>
          <p:nvPr/>
        </p:nvSpPr>
        <p:spPr>
          <a:xfrm>
            <a:off x="-1" y="6451460"/>
            <a:ext cx="12192001" cy="4401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dirty="0" err="1"/>
              <a:t>SPU|Technical</a:t>
            </a:r>
            <a:r>
              <a:rPr lang="en-GB" sz="2000" dirty="0"/>
              <a:t> College of Informatics</a:t>
            </a:r>
            <a:endParaRPr lang="en-US" sz="2000" dirty="0"/>
          </a:p>
        </p:txBody>
      </p:sp>
    </p:spTree>
    <p:extLst>
      <p:ext uri="{BB962C8B-B14F-4D97-AF65-F5344CB8AC3E}">
        <p14:creationId xmlns:p14="http://schemas.microsoft.com/office/powerpoint/2010/main" val="3530552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TotalTime>
  <Words>356</Words>
  <Application>Microsoft Office PowerPoint</Application>
  <PresentationFormat>Widescreen</PresentationFormat>
  <Paragraphs>49</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Automatic Schedule Generator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dc:creator>
  <cp:lastModifiedBy>bahman xalid</cp:lastModifiedBy>
  <cp:revision>54</cp:revision>
  <dcterms:created xsi:type="dcterms:W3CDTF">2019-02-20T23:38:15Z</dcterms:created>
  <dcterms:modified xsi:type="dcterms:W3CDTF">2021-06-01T09:32:05Z</dcterms:modified>
</cp:coreProperties>
</file>